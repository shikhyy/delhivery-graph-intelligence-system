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b="1">
                <a:solidFill>
                  <a:srgbClr val="FF4B4B"/>
                </a:solidFill>
              </a:defRPr>
            </a:pPr>
            <a:r>
              <a:t>Delhivery Graph Intelligence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>
                <a:solidFill>
                  <a:srgbClr val="FFFFFF"/>
                </a:solidFill>
              </a:defRPr>
            </a:pPr>
            <a:r>
              <a:t>Predicting Delays &amp; Identifying Structural Bottlenecks</a:t>
            </a:r>
          </a:p>
          <a:p/>
          <a:p>
            <a:r>
              <a:t>Prepared by the Data Science Team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FF4B4B"/>
                </a:solidFill>
              </a:defRPr>
            </a:pPr>
            <a:r>
              <a:t>The Strategic Challenge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>
                <a:solidFill>
                  <a:srgbClr val="FFFFFF"/>
                </a:solidFill>
              </a:defRPr>
            </a:pPr>
            <a:r>
              <a:t>Delhivery uses OSRM (shortest path) to estimate delivery times. However, real-world logistics is messy. Facility dwell times, node congestion, and route profiles cause actual delivery times to deviate significantly.</a:t>
            </a:r>
          </a:p>
          <a:p>
            <a:pPr>
              <a:defRPr sz="2400">
                <a:solidFill>
                  <a:srgbClr val="FFFFFF"/>
                </a:solidFill>
              </a:defRPr>
            </a:pPr>
          </a:p>
          <a:p>
            <a:pPr>
              <a:defRPr sz="2400">
                <a:solidFill>
                  <a:srgbClr val="FFFFFF"/>
                </a:solidFill>
              </a:defRPr>
            </a:pPr>
            <a:r>
              <a:t>The Result: A 95%+ SLA Breach Rate on specific chronic routes, leading to unhappy customers and broken capacity planning.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FF4B4B"/>
                </a:solidFill>
              </a:defRPr>
            </a:pPr>
            <a:r>
              <a:t>Our Graph-Based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800">
                <a:solidFill>
                  <a:srgbClr val="FFFFFF"/>
                </a:solidFill>
              </a:defRPr>
            </a:pPr>
            <a:r>
              <a:t>We modeled the logistics network not as isolated trips, but as a living Directed Graph.</a:t>
            </a:r>
          </a:p>
          <a:p>
            <a:pPr>
              <a:defRPr sz="2800">
                <a:solidFill>
                  <a:srgbClr val="FFFFFF"/>
                </a:solidFill>
              </a:defRPr>
            </a:pPr>
          </a:p>
          <a:p>
            <a:pPr>
              <a:defRPr sz="2800">
                <a:solidFill>
                  <a:srgbClr val="FFFFFF"/>
                </a:solidFill>
              </a:defRPr>
            </a:pPr>
            <a:r>
              <a:t>• 1,657 Facilities (Nodes)</a:t>
            </a:r>
          </a:p>
          <a:p>
            <a:pPr>
              <a:defRPr sz="2800">
                <a:solidFill>
                  <a:srgbClr val="FFFFFF"/>
                </a:solidFill>
              </a:defRPr>
            </a:pPr>
            <a:r>
              <a:t>• 2,783 Corridors (Edges)</a:t>
            </a:r>
          </a:p>
          <a:p>
            <a:pPr>
              <a:defRPr sz="2800">
                <a:solidFill>
                  <a:srgbClr val="FFFFFF"/>
                </a:solidFill>
              </a:defRPr>
            </a:pPr>
            <a:r>
              <a:t>• 2,617 Chronic Delay Corridors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FF4B4B"/>
                </a:solidFill>
              </a:defRPr>
            </a:pPr>
            <a:r>
              <a:t>Mapping the Bottlenecks</a:t>
            </a:r>
          </a:p>
        </p:txBody>
      </p:sp>
      <p:pic>
        <p:nvPicPr>
          <p:cNvPr id="3" name="Picture 2" descr="network_bottlen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6400800" cy="573678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FF4B4B"/>
                </a:solidFill>
              </a:defRPr>
            </a:pPr>
            <a:r>
              <a:t>The Top 5 Critical Hubs</a:t>
            </a:r>
          </a:p>
        </p:txBody>
      </p:sp>
      <p:pic>
        <p:nvPicPr>
          <p:cNvPr id="3" name="Picture 2" descr="top_hu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388092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FF4B4B"/>
                </a:solidFill>
              </a:defRPr>
            </a:pPr>
            <a:r>
              <a:t>Smarter ETAs via Node2Vec</a:t>
            </a:r>
          </a:p>
        </p:txBody>
      </p:sp>
      <p:pic>
        <p:nvPicPr>
          <p:cNvPr id="3" name="Picture 2" descr="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34691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5943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4CAF50"/>
                </a:solidFill>
              </a:defRPr>
            </a:pPr>
            <a:r>
              <a:t>Result: +8.57% improvement in 15%-Accuracy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FF4B4B"/>
                </a:solidFill>
              </a:defRPr>
            </a:pPr>
            <a:r>
              <a:t>FTL vs Carting Framework</a:t>
            </a:r>
          </a:p>
        </p:txBody>
      </p:sp>
      <p:pic>
        <p:nvPicPr>
          <p:cNvPr id="3" name="Picture 2" descr="ftl_decision_bound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6400800" cy="434321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FF4B4B"/>
                </a:solidFill>
              </a:defRPr>
            </a:pPr>
            <a:r>
              <a:t>Strategic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• Infrastructure: Upgrade capacity at Gurgaon Bilaspur HB and Bangalore Nelmngla. These single points of failure create massive ripple effects.</a:t>
            </a:r>
          </a:p>
          <a:p>
            <a:pPr>
              <a:defRPr sz="2200">
                <a:solidFill>
                  <a:srgbClr val="FFFFFF"/>
                </a:solidFill>
              </a:defRPr>
            </a:pPr>
            <a:r>
              <a:t>• Financial Impact: Upgrading the top 3 bottleneck hubs to the network median delay ratio recovers an estimated ₹1.05 Crore in revenue at risk.</a:t>
            </a:r>
          </a:p>
          <a:p>
            <a:pPr>
              <a:defRPr sz="2200">
                <a:solidFill>
                  <a:srgbClr val="FFFFFF"/>
                </a:solidFill>
              </a:defRPr>
            </a:pPr>
            <a:r>
              <a:t>• Deployment: Integrate the Graph-Enhanced XGBoost model into the customer-facing tracking app to drastically improve transparency.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>
                <a:solidFill>
                  <a:srgbClr val="FF4B4B"/>
                </a:solidFill>
              </a:defRPr>
            </a:pPr>
            <a:r>
              <a:t>Thank You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>
                <a:solidFill>
                  <a:srgbClr val="FFFFFF"/>
                </a:solidFill>
              </a:defRPr>
            </a:pPr>
            <a:r>
              <a:t>Explore the Live Interactive Dashboard:</a:t>
            </a:r>
          </a:p>
          <a:p>
            <a:r>
              <a:t>delhivery-graph-intelligence-system.streamlit.app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