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 sz="4400">
                <a:solidFill>
                  <a:srgbClr val="FF4B4B"/>
                </a:solidFill>
              </a:defRPr>
            </a:pPr>
            <a:r>
              <a:t>Delhivery Graph Intelligence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E6E6E6"/>
                </a:solidFill>
              </a:defRPr>
            </a:pPr>
            <a:r>
              <a:t>Predicting Delays &amp; Identifying Structural Bottlenecks</a:t>
            </a:r>
          </a:p>
          <a:p/>
          <a:p>
            <a:r>
              <a:t>Prepared by Shikhar Verma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FF4B4B"/>
                </a:solidFill>
              </a:defRPr>
            </a:pPr>
            <a:r>
              <a:t>The Strategic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400"/>
              </a:spcAft>
              <a:defRPr sz="2200">
                <a:solidFill>
                  <a:srgbClr val="E6E6E6"/>
                </a:solidFill>
              </a:defRPr>
            </a:pPr>
            <a:r>
              <a:t>• Delhivery uses OSRM (shortest path) to estimate delivery times.</a:t>
            </a:r>
          </a:p>
          <a:p>
            <a:pPr>
              <a:spcAft>
                <a:spcPts val="1400"/>
              </a:spcAft>
              <a:defRPr sz="2200">
                <a:solidFill>
                  <a:srgbClr val="E6E6E6"/>
                </a:solidFill>
              </a:defRPr>
            </a:pPr>
            <a:r>
              <a:t>• Real-world logistics is messy: dwell times, congestion, and operational constraints cause deviations.</a:t>
            </a:r>
          </a:p>
          <a:p>
            <a:pPr>
              <a:spcAft>
                <a:spcPts val="1400"/>
              </a:spcAft>
              <a:defRPr sz="2200">
                <a:solidFill>
                  <a:srgbClr val="E6E6E6"/>
                </a:solidFill>
              </a:defRPr>
            </a:pPr>
          </a:p>
          <a:p>
            <a:pPr>
              <a:spcAft>
                <a:spcPts val="1400"/>
              </a:spcAft>
              <a:defRPr sz="2200">
                <a:solidFill>
                  <a:srgbClr val="E6E6E6"/>
                </a:solidFill>
              </a:defRPr>
            </a:pPr>
            <a:r>
              <a:t>The Result:</a:t>
            </a:r>
          </a:p>
          <a:p>
            <a:pPr>
              <a:spcAft>
                <a:spcPts val="1400"/>
              </a:spcAft>
              <a:defRPr sz="2200">
                <a:solidFill>
                  <a:srgbClr val="E6E6E6"/>
                </a:solidFill>
              </a:defRPr>
            </a:pPr>
            <a:r>
              <a:t>A 95%+ SLA Breach Rate on chronic routes, breaking downstream capacity planning.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FF4B4B"/>
                </a:solidFill>
              </a:defRPr>
            </a:pPr>
            <a:r>
              <a:t>Our Graph-Based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400"/>
              </a:spcAft>
              <a:defRPr sz="2200">
                <a:solidFill>
                  <a:srgbClr val="E6E6E6"/>
                </a:solidFill>
              </a:defRPr>
            </a:pPr>
            <a:r>
              <a:t>We modeled the logistics network not as isolated trips, but as a living Directed Graph to find structural flaws.</a:t>
            </a:r>
          </a:p>
          <a:p>
            <a:pPr>
              <a:spcAft>
                <a:spcPts val="1400"/>
              </a:spcAft>
              <a:defRPr sz="2200">
                <a:solidFill>
                  <a:srgbClr val="E6E6E6"/>
                </a:solidFill>
              </a:defRPr>
            </a:pPr>
          </a:p>
          <a:p>
            <a:pPr>
              <a:spcAft>
                <a:spcPts val="1400"/>
              </a:spcAft>
              <a:defRPr sz="2200">
                <a:solidFill>
                  <a:srgbClr val="E6E6E6"/>
                </a:solidFill>
              </a:defRPr>
            </a:pPr>
            <a:r>
              <a:t>Network Scale:</a:t>
            </a:r>
          </a:p>
          <a:p>
            <a:pPr>
              <a:spcAft>
                <a:spcPts val="1400"/>
              </a:spcAft>
              <a:defRPr sz="2200">
                <a:solidFill>
                  <a:srgbClr val="E6E6E6"/>
                </a:solidFill>
              </a:defRPr>
            </a:pPr>
            <a:r>
              <a:t>• 1,657 Connected Facilities (Nodes)</a:t>
            </a:r>
          </a:p>
          <a:p>
            <a:pPr>
              <a:spcAft>
                <a:spcPts val="1400"/>
              </a:spcAft>
              <a:defRPr sz="2200">
                <a:solidFill>
                  <a:srgbClr val="E6E6E6"/>
                </a:solidFill>
              </a:defRPr>
            </a:pPr>
            <a:r>
              <a:t>• 2,783 Logistics Corridors (Edges)</a:t>
            </a:r>
          </a:p>
          <a:p>
            <a:pPr>
              <a:spcAft>
                <a:spcPts val="1400"/>
              </a:spcAft>
              <a:defRPr sz="2200">
                <a:solidFill>
                  <a:srgbClr val="E6E6E6"/>
                </a:solidFill>
              </a:defRPr>
            </a:pPr>
            <a:r>
              <a:t>• 2,617 Chronic Delay Corridors Identified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FF4B4B"/>
                </a:solidFill>
              </a:defRPr>
            </a:pPr>
            <a:r>
              <a:t>Mapping the Bottlenecks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etwork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5611315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FF4B4B"/>
                </a:solidFill>
              </a:defRPr>
            </a:pPr>
            <a:r>
              <a:t>The Top 5 Critical Hubs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op_hu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8229600" cy="43660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FF4B4B"/>
                </a:solidFill>
              </a:defRPr>
            </a:pPr>
            <a:r>
              <a:t>Smarter ETAs via Node2Vec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3902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7607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200">
                <a:solidFill>
                  <a:srgbClr val="4CAF50"/>
                </a:solidFill>
              </a:defRPr>
            </a:pPr>
            <a:r>
              <a:t>Result: +8.57% improvement in 15%-Accuracy over OSRM Baseline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FF4B4B"/>
                </a:solidFill>
              </a:defRPr>
            </a:pPr>
            <a:r>
              <a:t>FTL vs Carting Framework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tl_decis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741177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FF4B4B"/>
                </a:solidFill>
              </a:defRPr>
            </a:pPr>
            <a:r>
              <a:t>Strategic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400"/>
              </a:spcAft>
              <a:defRPr sz="2200">
                <a:solidFill>
                  <a:srgbClr val="E6E6E6"/>
                </a:solidFill>
              </a:defRPr>
            </a:pPr>
            <a:r>
              <a:t>• Infrastructure Interventions: Upgrade capacity at Gurgaon Bilaspur HB and Bangalore Nelmngla. These are single points of failure causing massive ripple effects.</a:t>
            </a:r>
          </a:p>
          <a:p>
            <a:pPr>
              <a:spcAft>
                <a:spcPts val="1400"/>
              </a:spcAft>
              <a:defRPr sz="2200">
                <a:solidFill>
                  <a:srgbClr val="E6E6E6"/>
                </a:solidFill>
              </a:defRPr>
            </a:pPr>
            <a:r>
              <a:t>• Financial Impact: Upgrading the top 3 bottleneck hubs to the network median delay recovers an estimated ₹1.05 Crore in revenue at risk.</a:t>
            </a:r>
          </a:p>
          <a:p>
            <a:pPr>
              <a:spcAft>
                <a:spcPts val="1400"/>
              </a:spcAft>
              <a:defRPr sz="2200">
                <a:solidFill>
                  <a:srgbClr val="E6E6E6"/>
                </a:solidFill>
              </a:defRPr>
            </a:pPr>
            <a:r>
              <a:t>• Product Deployment: Integrate the Graph-Enhanced XGBoost model into the customer-facing tracking app to drastically improve consumer transparency.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>
                <a:solidFill>
                  <a:srgbClr val="FF4B4B"/>
                </a:solidFill>
              </a:defRPr>
            </a:pPr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E6E6E6"/>
                </a:solidFill>
              </a:defRPr>
            </a:pPr>
            <a:r>
              <a:t>Explore the Live Dashboard:</a:t>
            </a:r>
          </a:p>
          <a:p>
            <a:r>
              <a:t>delhivery-graph-intelligence-system.streamlit.app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